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2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Noto Sans Thai SemiCondensed Bold" charset="1" panose="020B0802040504020204"/>
      <p:regular r:id="rId15"/>
    </p:embeddedFont>
    <p:embeddedFont>
      <p:font typeface="Noto Sans Thai SemiCondensed" charset="1" panose="020B0502040504020204"/>
      <p:regular r:id="rId16"/>
    </p:embeddedFont>
    <p:embeddedFont>
      <p:font typeface="Noto Sans Thai" charset="1" panose="020B0502040504020204"/>
      <p:regular r:id="rId17"/>
    </p:embeddedFont>
    <p:embeddedFont>
      <p:font typeface="Noto Sans Thai Bold" charset="1" panose="020B0802040504020204"/>
      <p:regular r:id="rId20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notesMasters/notesMaster1.xml" Type="http://schemas.openxmlformats.org/officeDocument/2006/relationships/notesMaster"/><Relationship Id="rId13" Target="theme/theme2.xml" Type="http://schemas.openxmlformats.org/officeDocument/2006/relationships/theme"/><Relationship Id="rId14" Target="notesSlides/notesSlide1.xml" Type="http://schemas.openxmlformats.org/officeDocument/2006/relationships/notes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notesSlides/notesSlide2.xml" Type="http://schemas.openxmlformats.org/officeDocument/2006/relationships/notesSlide"/><Relationship Id="rId19" Target="notesSlides/notesSlide3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4.xml" Type="http://schemas.openxmlformats.org/officeDocument/2006/relationships/notesSlide"/><Relationship Id="rId22" Target="fonts/font22.fntdata" Type="http://schemas.openxmlformats.org/officeDocument/2006/relationships/font"/><Relationship Id="rId23" Target="notesSlides/notesSlide5.xml" Type="http://schemas.openxmlformats.org/officeDocument/2006/relationships/notesSlide"/><Relationship Id="rId24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ก่อนเริ่มจับเวลา</a:t>
            </a:r>
          </a:p>
          <a:p>
            <a:r>
              <a:rPr lang="en-US"/>
              <a:t/>
            </a:r>
          </a:p>
          <a:p>
            <a:r>
              <a:rPr lang="en-US"/>
              <a:t>แนะนำทีมสั้น ๆ แล้วเปลี่ยนไปสไลด์ 2 เริ่มจับเวลา 3 นาทีที่สไลด์ 2</a:t>
            </a:r>
          </a:p>
          <a:p>
            <a:r>
              <a:rPr lang="en-US"/>
              <a:t/>
            </a:r>
          </a:p>
          <a:p>
            <a:r>
              <a:rPr lang="en-US"/>
              <a:t>อ่านชื่อ EsKrow+ ว่า เอส-โคร-พลัส (มาจากคำว่า escrow)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0:00–0:20 เปิดเรื่อง</a:t>
            </a:r>
          </a:p>
          <a:p>
            <a:r>
              <a:rPr lang="en-US"/>
              <a:t/>
            </a:r>
          </a:p>
          <a:p>
            <a:r>
              <a:rPr lang="en-US"/>
              <a:t>นี่คือพลอยค่ะ อายุ 24 เพิ่งเริ่มงานแรก วันหนึ่งเธอเจอ iPhone 15 ในอินสตาแกรม ราคาแค่ 18,000 บาท ร้านบอกว่า “โอนก่อนนะคะ ส่งของให้วันนี้เลย” พลอยโอนไป… (เว้นจังหวะ) แล้วของก็ไม่เคยมาถึง</a:t>
            </a:r>
          </a:p>
          <a:p>
            <a:r>
              <a:rPr lang="en-US"/>
              <a:t/>
            </a:r>
          </a:p>
          <a:p>
            <a:r>
              <a:rPr lang="en-US"/>
              <a:t>พลอยไม่ได้ประมาทค่ะ แค่ทุกวันนี้ เราไม่มีวิธีจ่ายเงินให้คนแปลกหน้าอย่างปลอดภัยเลย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0:20–0:50 ปัญหาและกลุ่มเป้าหมาย</a:t>
            </a:r>
          </a:p>
          <a:p>
            <a:r>
              <a:rPr lang="en-US"/>
              <a:t/>
            </a:r>
          </a:p>
          <a:p>
            <a:r>
              <a:rPr lang="en-US"/>
              <a:t>ในเวลาแค่สองปีกว่า คนไทยเสียเงินให้มิจฉาชีพออนไลน์ไปแล้วกว่า 63,000 ล้านบาท กลุ่มที่โดนหนักที่สุดคือคนอายุ 20 ถึง 29 ปี คิดเป็น 28 เปอร์เซ็นต์ของผู้เสียหาย และส่วนใหญ่เริ่มต้นจากโซเชียลมีเดีย</a:t>
            </a:r>
          </a:p>
          <a:p>
            <a:r>
              <a:rPr lang="en-US"/>
              <a:t/>
            </a:r>
          </a:p>
          <a:p>
            <a:r>
              <a:rPr lang="en-US"/>
              <a:t>ปัญหาคือ ทุกวิธีที่เรามีวันนี้ เกิดขึ้นหลังจากเงินหายไปแล้วทั้งนั้น ทั้งแจ้งความ อายัดบัญชีม้า แล้วก็รอ สำหรับคนเพิ่งเริ่มทำงาน 18,000 บาทคือเงินเดือนเกือบทั้งเดือนค่ะ</a:t>
            </a:r>
          </a:p>
          <a:p>
            <a:r>
              <a:rPr lang="en-US"/>
              <a:t/>
            </a:r>
          </a:p>
          <a:p>
            <a:r>
              <a:rPr lang="en-US"/>
              <a:t>(ตัดได้ถ้าเกินเวลา) ส่วนธนาคาร ทุกเคสหมายถึงเรื่องร้องเรียน ชั่วโมงงานของคอลเซ็นเตอร์ และความเชื่อมั่นของลูกค้าที่หายไป</a:t>
            </a:r>
          </a:p>
          <a:p>
            <a:r>
              <a:rPr lang="en-US"/>
              <a:t/>
            </a:r>
          </a:p>
          <a:p>
            <a:r>
              <a:rPr lang="en-US"/>
              <a:t>ก่อนส่ง: ตรวจตัวเลข 63,000 ล้าน / 28% / โซเชียล กับแหล่งต้นฉบับ และพิจารณาใส่ที่มาเล็ก ๆ ใต้สไลด์นี้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0:50–1:50 โซลูชันและวิธีการทำงาน</a:t>
            </a:r>
          </a:p>
          <a:p>
            <a:r>
              <a:rPr lang="en-US"/>
              <a:t/>
            </a:r>
          </a:p>
          <a:p>
            <a:r>
              <a:rPr lang="en-US"/>
              <a:t>EsKrow+ ให้ธนาคารเข้ามาเป็นตัวกลางของการซื้อขาย ในแอปที่ทุกคนใช้อยู่แล้ว ใช้แค่ 4 ขั้นตอนค่ะ</a:t>
            </a:r>
          </a:p>
          <a:p>
            <a:r>
              <a:rPr lang="en-US"/>
              <a:t/>
            </a:r>
          </a:p>
          <a:p>
            <a:r>
              <a:rPr lang="en-US"/>
              <a:t>1. ดีลที่ธนาคารรับรอง ผู้ขายส่ง QR ของดีลที่ธนาคารเซ็นรับรองมาให้ แอปของพลอยตรวจลายเซ็นก่อนจ่ายทุกครั้ง QR ปลอมหรือ QR ที่ถูกแก้ไข จะถูกจับได้ทันที</a:t>
            </a:r>
          </a:p>
          <a:p>
            <a:r>
              <a:rPr lang="en-US"/>
              <a:t/>
            </a:r>
          </a:p>
          <a:p>
            <a:r>
              <a:rPr lang="en-US"/>
              <a:t>2. ตรวจความเสี่ยงสองชั้น ชั้นแรก ระบบเช็กสถานะบัญชีของผู้ขายจากระบบหลักของธนาคาร บัญชีที่ถูกอายัดตามคำสั่งหน่วยงานรัฐจะสร้างดีลไม่ได้ ชั้นที่สอง ธนาคารวิเคราะห์ข้อมูลบัญชีและธุรกรรม เช่น อายุบัญชี และเงินที่ไหลเข้าออกผิดปกติ เพื่อจับบัญชีม้าที่ยังไม่ถูกแจ้ง ไม่ว่าผลจะออกมาอย่างไร เงินของพลอยจะถูกพักไว้กับธนาคารทุกดีล ผู้ขายแตะไม่ได้จนกว่าเธอจะยืนยัน</a:t>
            </a:r>
          </a:p>
          <a:p>
            <a:r>
              <a:rPr lang="en-US"/>
              <a:t/>
            </a:r>
          </a:p>
          <a:p>
            <a:r>
              <a:rPr lang="en-US"/>
              <a:t>3. ผู้ขายส่งของ แล้วส่งเลขพัสดุ ตอนนี้เงินของพลอยถูกพักไว้แล้ว ผู้ขายส่งของ แล้วกรอกเลขพัสดุจากบริษัทขนส่งลงในแอป พลอยจะได้รับแจ้งเตือนให้ตรวจรายละเอียดพัสดุ ว่าส่งมาที่อยู่ของเธอ ในชื่อของเธอจริงไหม ถ้าดูแล้วไม่ถูกต้อง กดรายงานปุ่มเดียว เงินก็ยังถูกพักไว้</a:t>
            </a:r>
          </a:p>
          <a:p>
            <a:r>
              <a:rPr lang="en-US"/>
              <a:t/>
            </a:r>
          </a:p>
          <a:p>
            <a:r>
              <a:rPr lang="en-US"/>
              <a:t>4. กดปุ่มเดียวเพื่อจ่าย ถ้าทุกอย่างถูกต้อง พลอยกดยืนยัน เงินก็โอนถึงผู้ขายทันที ถ้าเธอไม่ตอบภายใน 24 ชั่วโมง ระบบจะโอนให้ผู้ขายเองอัตโนมัติ แต่ถ้าผู้ขายไม่ส่งเลขพัสดุภายใน 48 ชั่วโมง ดีลจะหมดอายุ และเงินจะกลับคืนให้พลอยเองค่ะ ไม่ต้องมีใครตัดสิน ไม่ต้องโต้เถียงกัน</a:t>
            </a:r>
          </a:p>
          <a:p>
            <a:r>
              <a:rPr lang="en-US"/>
              <a:t/>
            </a:r>
          </a:p>
          <a:p>
            <a:r>
              <a:rPr lang="en-US"/>
              <a:t>(ตัดได้ถ้าเกินเวลา) และเบื้องหลังระบบ ไม่มีพนักงานคนไหนโยกเงินก้อนนี้ได้ตามลำพัง ทุกคำขอถูกตรวจซ้ำแบบ Zero Trust ต้องมีคนอนุมัติสองคน และทุกการกระทำถูกบันทึกในล็อกที่แอบแก้ย้อนหลังไม่ได้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1:50–2:45 คุณค่าและผลกระทบ (ห้ามตัดช่วงนี้)</a:t>
            </a:r>
          </a:p>
          <a:p>
            <a:r>
              <a:rPr lang="en-US"/>
              <a:t/>
            </a:r>
          </a:p>
          <a:p>
            <a:r>
              <a:rPr lang="en-US"/>
              <a:t>แล้วธนาคารได้อะไรคะ</a:t>
            </a:r>
          </a:p>
          <a:p>
            <a:r>
              <a:rPr lang="en-US"/>
              <a:t/>
            </a:r>
          </a:p>
          <a:p>
            <a:r>
              <a:rPr lang="en-US"/>
              <a:t>อย่างแรก หยุดความเสียหายก่อนมันจะเกิด เราจับการโกงได้ตั้งแต่วินาทีที่กดจ่าย ไม่ใช่อีกหลายสัปดาห์ต่อมาในคิวเรื่องร้องเรียน</a:t>
            </a:r>
          </a:p>
          <a:p>
            <a:r>
              <a:rPr lang="en-US"/>
              <a:t/>
            </a:r>
          </a:p>
          <a:p>
            <a:r>
              <a:rPr lang="en-US"/>
              <a:t>อย่างที่สอง ผู้ขายสุจริตได้ประโยชน์ ดีลที่ธนาคารรับรองจะกลายเป็นเครื่องหมายที่ผู้ซื้อมองหา ผู้ขายสุจริตจึงขายของให้คนแปลกหน้าได้ง่ายขึ้น และเพราะทั้งสองฝั่งต้องเป็นลูกค้าของธนาคาร ทุกดีลที่คุ้มครองจึงพาลูกค้าใหม่เข้ามาด้วย</a:t>
            </a:r>
          </a:p>
          <a:p>
            <a:r>
              <a:rPr lang="en-US"/>
              <a:t/>
            </a:r>
          </a:p>
          <a:p>
            <a:r>
              <a:rPr lang="en-US"/>
              <a:t>อย่างที่สาม ป้องกันการใช้บัญชีม้า ทุกดีลต้องสแกนใบหน้าแบบสดทั้งผู้ซื้อและผู้ขาย บัญชีม้าจึงถูกนำมาใช้ได้ยาก และถ้ามีปัญหา ก็ตามตัวเจ้าของบัญชีตัวจริงได้ง่ายขึ้น</a:t>
            </a:r>
          </a:p>
          <a:p>
            <a:r>
              <a:rPr lang="en-US"/>
              <a:t/>
            </a:r>
          </a:p>
          <a:p>
            <a:r>
              <a:rPr lang="en-US"/>
              <a:t>และทั้งหมดนี้สร้างบนสิ่งที่ธนาคารมีอยู่แล้ว ทั้ง พ.ร.บ.การดูแลผลประโยชน์ของคู่สัญญา ระบบโอนเงินเดิม และข้อมูลการโกงของธนาคารเอง ในเฟสที่สอง เราจะขยายให้ใช้ข้ามธนาคารได้ค่ะ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2:45–3:00 · ปิดท้าย</a:t>
            </a:r>
          </a:p>
          <a:p>
            <a:r>
              <a:rPr lang="en-US"/>
              <a:t/>
            </a:r>
          </a:p>
          <a:p>
            <a:r>
              <a:rPr lang="en-US"/>
              <a:t>ด้วย EsKrow+ พลอยไม่เสียเงินเลยแม้แต่บาทเดียว และมิจฉาชีพก็ไม่ได้อะไรไปเลย (เว้นจังหวะ) เราทำให้การซื้อของจากคนแปลกหน้า ปลอดภัยเหมือนซื้อจากหน้าร้าน และธนาคารคือเหตุผลที่ทำให้มันปลอดภัยค่ะ</a:t>
            </a:r>
          </a:p>
          <a:p>
            <a:r>
              <a:rPr lang="en-US"/>
              <a:t/>
            </a:r>
          </a:p>
          <a:p>
            <a:r>
              <a:rPr lang="en-US"/>
              <a:t>ขอบคุณค่ะ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1.png" Type="http://schemas.openxmlformats.org/officeDocument/2006/relationships/image"/><Relationship Id="rId4" Target="../media/image1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05029" y="3000548"/>
            <a:ext cx="12382500" cy="2640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870"/>
              </a:lnSpc>
              <a:spcBef>
                <a:spcPct val="0"/>
              </a:spcBef>
            </a:pPr>
            <a:r>
              <a:rPr lang="en-US" b="true" sz="19870" spc="-591" strike="noStrike" u="none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EsKrow+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15594" y="5661053"/>
            <a:ext cx="16192500" cy="578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59"/>
              </a:lnSpc>
              <a:spcBef>
                <a:spcPct val="0"/>
              </a:spcBef>
            </a:pPr>
            <a:r>
              <a:rPr lang="en-US" sz="4359" strike="noStrike" u="none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ธนาคารถือเงินไว้ให้ จนกว่าของจะถูกส่งจริง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01291" y="9048358"/>
            <a:ext cx="10477500" cy="28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2159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ทีม EsKrow+ / Cyber Security &amp; Digital Trust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735902" y="1166604"/>
            <a:ext cx="11239500" cy="154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94"/>
              </a:lnSpc>
            </a:pPr>
            <a:r>
              <a:rPr lang="en-US" b="true" sz="11694" spc="-468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พลอยโอนไป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4298" y="2428442"/>
            <a:ext cx="11239500" cy="266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47"/>
              </a:lnSpc>
            </a:pPr>
            <a:r>
              <a:rPr lang="en-US" b="true" sz="20047" spc="-401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18,000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80929" y="4525172"/>
            <a:ext cx="11239500" cy="154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94"/>
              </a:lnSpc>
            </a:pPr>
            <a:r>
              <a:rPr lang="en-US" b="true" sz="11694" spc="-468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บาท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21618" y="5888884"/>
            <a:ext cx="11430000" cy="1146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1"/>
              </a:lnSpc>
            </a:pPr>
            <a:r>
              <a:rPr lang="en-US" b="true" sz="8631" spc="-345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แล้วของไม่เคยมาถึง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68761" y="7241462"/>
            <a:ext cx="10953750" cy="650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7"/>
              </a:lnSpc>
            </a:pPr>
            <a:r>
              <a:rPr lang="en-US" sz="4447" spc="-89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เธอไม่ได้ประมาท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6361" y="7994504"/>
            <a:ext cx="10953750" cy="650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7"/>
              </a:lnSpc>
            </a:pPr>
            <a:r>
              <a:rPr lang="en-US" sz="4447" spc="-89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แค่ไม่มีวิธีจ่ายเงิน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38437" y="8702363"/>
            <a:ext cx="10953750" cy="650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7"/>
              </a:lnSpc>
            </a:pPr>
            <a:r>
              <a:rPr lang="en-US" sz="4447" spc="-89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ให้คนแปลกหน้าอย่างปลอดภัย</a:t>
            </a:r>
          </a:p>
        </p:txBody>
      </p:sp>
      <p:sp>
        <p:nvSpPr>
          <p:cNvPr name="Freeform 13" id="13" descr="Instagram post selling an iPhone 15 for 18,000 baht, transfer first"/>
          <p:cNvSpPr/>
          <p:nvPr/>
        </p:nvSpPr>
        <p:spPr>
          <a:xfrm flipH="false" flipV="false" rot="0">
            <a:off x="12668250" y="771525"/>
            <a:ext cx="4114800" cy="8743950"/>
          </a:xfrm>
          <a:custGeom>
            <a:avLst/>
            <a:gdLst/>
            <a:ahLst/>
            <a:cxnLst/>
            <a:rect r="r" b="b" t="t" l="l"/>
            <a:pathLst>
              <a:path h="8743950" w="4114800">
                <a:moveTo>
                  <a:pt x="0" y="0"/>
                </a:moveTo>
                <a:lnTo>
                  <a:pt x="4114800" y="0"/>
                </a:lnTo>
                <a:lnTo>
                  <a:pt x="4114800" y="8743950"/>
                </a:lnTo>
                <a:lnTo>
                  <a:pt x="0" y="8743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62" r="0" b="-62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96520" y="927679"/>
            <a:ext cx="14287500" cy="370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78"/>
              </a:lnSpc>
            </a:pPr>
            <a:r>
              <a:rPr lang="en-US" b="true" sz="27878" spc="-830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63,000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1638" y="4260753"/>
            <a:ext cx="9525000" cy="1309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71"/>
              </a:lnSpc>
            </a:pPr>
            <a:r>
              <a:rPr lang="en-US" b="true" sz="9871" spc="-96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ล้านบาท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17243" y="5705255"/>
            <a:ext cx="14287500" cy="561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94"/>
              </a:lnSpc>
            </a:pPr>
            <a:r>
              <a:rPr lang="en-US" sz="3828" spc="-37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ที่คนไทยเสียให้มิจฉาชีพออนไลน์ ในเวลาสองปีกว่า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17431" y="7096389"/>
            <a:ext cx="14287500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3392" spc="-33">
                <a:solidFill>
                  <a:srgbClr val="000000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อายุ 20–29 ปี โดนมากที่สุด คิดเป็น 28% ของผู้เสียหาย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6239" y="7924735"/>
            <a:ext cx="14287500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3392" spc="-33">
                <a:solidFill>
                  <a:srgbClr val="000000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ส่วนใหญ่เริ่มต้นจากโซเชียลมีเดีย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8858250"/>
            <a:ext cx="14287500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3392" spc="-33" b="true">
                <a:solidFill>
                  <a:srgbClr val="000000"/>
                </a:solidFill>
                <a:latin typeface="Noto Sans Thai Bold"/>
                <a:ea typeface="Noto Sans Thai Bold"/>
                <a:cs typeface="Noto Sans Thai Bold"/>
                <a:sym typeface="Noto Sans Thai Bold"/>
              </a:rPr>
              <a:t>ทุกมาตรการวันนี้ เกิดขึ้นหลังเงินหายไปแล้ว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704850" y="1047750"/>
            <a:ext cx="10287000" cy="959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7200" spc="-214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ธนาคารพักเงินไว้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04850" y="2133600"/>
            <a:ext cx="10287000" cy="959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7200" spc="-214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จนกว่าผู้ซื้อจะยืนยันของ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62075" y="7391400"/>
            <a:ext cx="3429000" cy="983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ผู้ขายส่ง QR</a:t>
            </a:r>
          </a:p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ของดีลที่ธนาคารรับรอง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953000" y="7410450"/>
            <a:ext cx="622414" cy="115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70"/>
              </a:lnSpc>
            </a:pPr>
            <a:r>
              <a:rPr lang="en-US" b="true" sz="8770" spc="-261">
                <a:solidFill>
                  <a:srgbClr val="1F5C3A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762625" y="7391400"/>
            <a:ext cx="3286125" cy="983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45"/>
              </a:lnSpc>
              <a:spcBef>
                <a:spcPct val="0"/>
              </a:spcBef>
            </a:pPr>
            <a:r>
              <a:rPr lang="en-US" sz="2888" spc="-115" strike="noStrike" u="none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เช็กสถานะบัญชี</a:t>
            </a:r>
          </a:p>
          <a:p>
            <a:pPr algn="l" marL="0" indent="0" lvl="0">
              <a:lnSpc>
                <a:spcPts val="4045"/>
              </a:lnSpc>
              <a:spcBef>
                <a:spcPct val="0"/>
              </a:spcBef>
            </a:pPr>
            <a:r>
              <a:rPr lang="en-US" sz="2888" spc="-115" strike="noStrike" u="none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และธุรกรรมของผู้ขาย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53525" y="7410450"/>
            <a:ext cx="622414" cy="115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70"/>
              </a:lnSpc>
            </a:pPr>
            <a:r>
              <a:rPr lang="en-US" b="true" sz="8770" spc="-261">
                <a:solidFill>
                  <a:srgbClr val="1F5C3A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91725" y="7391400"/>
            <a:ext cx="3667125" cy="983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ผู้ขายส่งของและเลขพัสดุ</a:t>
            </a:r>
          </a:p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ผู้ซื้อตรวจรายละเอียด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706475" y="7410450"/>
            <a:ext cx="622414" cy="115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70"/>
              </a:lnSpc>
            </a:pPr>
            <a:r>
              <a:rPr lang="en-US" b="true" sz="8770" spc="-261">
                <a:solidFill>
                  <a:srgbClr val="1F5C3A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611350" y="7391400"/>
            <a:ext cx="3143250" cy="983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ผู้ซื้อกดยืนยัน</a:t>
            </a:r>
          </a:p>
          <a:p>
            <a:pPr algn="l">
              <a:lnSpc>
                <a:spcPts val="4045"/>
              </a:lnSpc>
            </a:pPr>
            <a:r>
              <a:rPr lang="en-US" sz="2888" spc="-115">
                <a:solidFill>
                  <a:srgbClr val="000000"/>
                </a:solidFill>
                <a:latin typeface="Noto Sans Thai SemiCondensed"/>
                <a:ea typeface="Noto Sans Thai SemiCondensed"/>
                <a:cs typeface="Noto Sans Thai SemiCondensed"/>
                <a:sym typeface="Noto Sans Thai SemiCondensed"/>
              </a:rPr>
              <a:t>เงินถึงผู้ขาย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71525" y="7410450"/>
            <a:ext cx="622414" cy="115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70"/>
              </a:lnSpc>
            </a:pPr>
            <a:r>
              <a:rPr lang="en-US" b="true" sz="8770" spc="-261">
                <a:solidFill>
                  <a:srgbClr val="1F5C3A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144250" y="2219325"/>
            <a:ext cx="6858000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5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6B6B66"/>
                </a:solidFill>
                <a:latin typeface="Arimo"/>
                <a:ea typeface="Arimo"/>
                <a:cs typeface="Arimo"/>
                <a:sym typeface="Arimo"/>
              </a:rPr>
              <a:t>ไม่กดยืนยันภายใน 24 ชม. → โอนให้ผู้ขายอัตโนมัติ</a:t>
            </a:r>
          </a:p>
          <a:p>
            <a:pPr algn="l" marL="0" indent="0" lvl="0">
              <a:lnSpc>
                <a:spcPts val="315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6B6B66"/>
                </a:solidFill>
                <a:latin typeface="Arimo"/>
                <a:ea typeface="Arimo"/>
                <a:cs typeface="Arimo"/>
                <a:sym typeface="Arimo"/>
              </a:rPr>
              <a:t>ไม่ส่งเลขพัสดุภายใน 48 ชม. → คืนเงินผู้ซื้อ</a:t>
            </a:r>
          </a:p>
        </p:txBody>
      </p:sp>
      <p:sp>
        <p:nvSpPr>
          <p:cNvPr name="Freeform 17" id="17" descr="QR code with a check seal"/>
          <p:cNvSpPr/>
          <p:nvPr/>
        </p:nvSpPr>
        <p:spPr>
          <a:xfrm flipH="false" flipV="false" rot="0">
            <a:off x="1273232" y="4476750"/>
            <a:ext cx="2286000" cy="2286000"/>
          </a:xfrm>
          <a:custGeom>
            <a:avLst/>
            <a:gdLst/>
            <a:ahLst/>
            <a:cxnLst/>
            <a:rect r="r" b="b" t="t" l="l"/>
            <a:pathLst>
              <a:path h="2286000" w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8" id="18" descr="Shield with a magnifying glass"/>
          <p:cNvSpPr/>
          <p:nvPr/>
        </p:nvSpPr>
        <p:spPr>
          <a:xfrm flipH="false" flipV="false" rot="0">
            <a:off x="5454707" y="4476750"/>
            <a:ext cx="2286000" cy="2286000"/>
          </a:xfrm>
          <a:custGeom>
            <a:avLst/>
            <a:gdLst/>
            <a:ahLst/>
            <a:cxnLst/>
            <a:rect r="r" b="b" t="t" l="l"/>
            <a:pathLst>
              <a:path h="2286000" w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9" id="19" descr="Parcel box"/>
          <p:cNvSpPr/>
          <p:nvPr/>
        </p:nvSpPr>
        <p:spPr>
          <a:xfrm flipH="false" flipV="false" rot="0">
            <a:off x="9655232" y="4476750"/>
            <a:ext cx="2286000" cy="2286000"/>
          </a:xfrm>
          <a:custGeom>
            <a:avLst/>
            <a:gdLst/>
            <a:ahLst/>
            <a:cxnLst/>
            <a:rect r="r" b="b" t="t" l="l"/>
            <a:pathLst>
              <a:path h="2286000" w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0" id="20" descr="Phone with a confirm tick"/>
          <p:cNvSpPr/>
          <p:nvPr/>
        </p:nvSpPr>
        <p:spPr>
          <a:xfrm flipH="false" flipV="false" rot="0">
            <a:off x="14208182" y="4476750"/>
            <a:ext cx="2286000" cy="2286000"/>
          </a:xfrm>
          <a:custGeom>
            <a:avLst/>
            <a:gdLst/>
            <a:ahLst/>
            <a:cxnLst/>
            <a:rect r="r" b="b" t="t" l="l"/>
            <a:pathLst>
              <a:path h="2286000" w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00994" y="885966"/>
            <a:ext cx="15240000" cy="1537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555"/>
              </a:lnSpc>
              <a:spcBef>
                <a:spcPct val="0"/>
              </a:spcBef>
            </a:pPr>
            <a:r>
              <a:rPr lang="en-US" b="true" sz="11555" spc="-344" strike="noStrike" u="none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ธนาคารได้อะไร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8200" y="2962275"/>
            <a:ext cx="11768129" cy="689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90"/>
              </a:lnSpc>
            </a:pPr>
            <a:r>
              <a:rPr lang="en-US" sz="5290" spc="-157" b="true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หยุดความเสียหายก่อนเกิด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7250" y="3752850"/>
            <a:ext cx="15240000" cy="491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5"/>
              </a:lnSpc>
            </a:pPr>
            <a:r>
              <a:rPr lang="en-US" sz="3254">
                <a:solidFill>
                  <a:srgbClr val="55554F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จับการโกงได้ตอนกดจ่าย ไม่ใช่หลายสัปดาห์ต่อมาในคิวร้องเรียน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38200" y="4962525"/>
            <a:ext cx="15240000" cy="689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90"/>
              </a:lnSpc>
            </a:pPr>
            <a:r>
              <a:rPr lang="en-US" sz="5290" spc="-157" b="true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ได้ลูกค้าใหม่จากทุกดีล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7250" y="5753100"/>
            <a:ext cx="15240000" cy="491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05"/>
              </a:lnSpc>
              <a:spcBef>
                <a:spcPct val="0"/>
              </a:spcBef>
            </a:pPr>
            <a:r>
              <a:rPr lang="en-US" sz="3254" strike="noStrike" u="none">
                <a:solidFill>
                  <a:srgbClr val="55554F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ดีลที่ธนาคารรับรองช่วยให้ผู้ขายสุจริตขายได้ง่ายขึ้น และทั้งสองฝั่งเป็นลูกค้าของธนาคาร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6962775"/>
            <a:ext cx="15240000" cy="689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90"/>
              </a:lnSpc>
              <a:spcBef>
                <a:spcPct val="0"/>
              </a:spcBef>
            </a:pPr>
            <a:r>
              <a:rPr lang="en-US" b="true" sz="5290" spc="-157" strike="noStrike" u="none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ป้องกันการใช้บัญชีม้า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7753350"/>
            <a:ext cx="15240000" cy="491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05"/>
              </a:lnSpc>
              <a:spcBef>
                <a:spcPct val="0"/>
              </a:spcBef>
            </a:pPr>
            <a:r>
              <a:rPr lang="en-US" sz="3254" strike="noStrike" u="none">
                <a:solidFill>
                  <a:srgbClr val="55554F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สแกนใบหน้าแบบสดทุกดีล จึงตามตัวเจ้าของบัญชีตัวจริงได้ง่ายขึ้น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38200" y="9286875"/>
            <a:ext cx="16764000" cy="428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8"/>
              </a:lnSpc>
            </a:pPr>
            <a:r>
              <a:rPr lang="en-US" sz="2906">
                <a:solidFill>
                  <a:srgbClr val="6B6B66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สร้างบน พ.ร.บ.การดูแลผลประโยชน์ของคู่สัญญา และระบบโอนเงินที่มีอยู่แล้ว เฟสถัดไปขยายข้ามธนาคาร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3E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738807" y="1285830"/>
            <a:ext cx="11239500" cy="1863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21"/>
              </a:lnSpc>
            </a:pPr>
            <a:r>
              <a:rPr lang="en-US" b="true" sz="13921" spc="-557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พลอยเสีย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0876" y="2811831"/>
            <a:ext cx="1905000" cy="2444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76"/>
              </a:lnSpc>
            </a:pPr>
            <a:r>
              <a:rPr lang="en-US" b="true" sz="18376" spc="-735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92566" y="2948729"/>
            <a:ext cx="6667500" cy="2237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45"/>
              </a:lnSpc>
            </a:pPr>
            <a:r>
              <a:rPr lang="en-US" b="true" sz="16845" spc="-674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บาท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38719" y="5031812"/>
            <a:ext cx="11239500" cy="166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29"/>
              </a:lnSpc>
            </a:pPr>
            <a:r>
              <a:rPr lang="en-US" b="true" sz="12529" spc="-501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มิจฉาชีพได้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90876" y="6381250"/>
            <a:ext cx="1905000" cy="2444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76"/>
              </a:lnSpc>
            </a:pPr>
            <a:r>
              <a:rPr lang="en-US" b="true" sz="18376" spc="-735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592566" y="6518148"/>
            <a:ext cx="6667500" cy="2237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45"/>
              </a:lnSpc>
            </a:pPr>
            <a:r>
              <a:rPr lang="en-US" b="true" sz="16845" spc="-674">
                <a:solidFill>
                  <a:srgbClr val="000000"/>
                </a:solidFill>
                <a:latin typeface="Noto Sans Thai SemiCondensed Bold"/>
                <a:ea typeface="Noto Sans Thai SemiCondensed Bold"/>
                <a:cs typeface="Noto Sans Thai SemiCondensed Bold"/>
                <a:sym typeface="Noto Sans Thai SemiCondensed Bold"/>
              </a:rPr>
              <a:t>บาท</a:t>
            </a:r>
          </a:p>
        </p:txBody>
      </p:sp>
      <p:sp>
        <p:nvSpPr>
          <p:cNvPr name="Freeform 12" id="12" descr="Refund of 18,000 baht back to the buyer's account"/>
          <p:cNvSpPr/>
          <p:nvPr/>
        </p:nvSpPr>
        <p:spPr>
          <a:xfrm flipH="false" flipV="false" rot="0">
            <a:off x="12668250" y="771525"/>
            <a:ext cx="4114800" cy="8743950"/>
          </a:xfrm>
          <a:custGeom>
            <a:avLst/>
            <a:gdLst/>
            <a:ahLst/>
            <a:cxnLst/>
            <a:rect r="r" b="b" t="t" l="l"/>
            <a:pathLst>
              <a:path h="8743950" w="4114800">
                <a:moveTo>
                  <a:pt x="0" y="0"/>
                </a:moveTo>
                <a:lnTo>
                  <a:pt x="4114800" y="0"/>
                </a:lnTo>
                <a:lnTo>
                  <a:pt x="4114800" y="8743950"/>
                </a:lnTo>
                <a:lnTo>
                  <a:pt x="0" y="8743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62" r="0" b="-62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DAHZVPO88NY</dc:identifier>
  <dcterms:modified xsi:type="dcterms:W3CDTF">2011-08-01T06:04:30Z</dcterms:modified>
  <cp:revision>1</cp:revision>
  <dc:title>EsKrow+ Pitch (TH)</dc:title>
</cp:coreProperties>
</file>