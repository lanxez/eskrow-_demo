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Noto Sans Thai SemiCondensed Bold" charset="1" panose="020B0802040504020204"/>
      <p:regular r:id="rId15"/>
    </p:embeddedFont>
    <p:embeddedFont>
      <p:font typeface="Noto Sans Thai SemiCondensed" charset="1" panose="020B0502040504020204"/>
      <p:regular r:id="rId16"/>
    </p:embeddedFont>
    <p:embeddedFont>
      <p:font typeface="Noto Sans Thai" charset="1" panose="020B0502040504020204"/>
      <p:regular r:id="rId17"/>
    </p:embeddedFont>
    <p:embeddedFont>
      <p:font typeface="Noto Sans Thai Bold" charset="1" panose="020B0802040504020204"/>
      <p:regular r:id="rId20"/>
    </p:embeddedFont>
    <p:embeddedFont>
      <p:font typeface="Arimo" charset="1" panose="020B06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4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ก่อนเริ่มจับเวลา</a:t>
            </a:r>
          </a:p>
          <a:p>
            <a:r>
              <a:rPr lang="en-US"/>
              <a:t/>
            </a:r>
          </a:p>
          <a:p>
            <a:r>
              <a:rPr lang="en-US"/>
              <a:t>แนะนำทีมสั้น ๆ แล้วเปลี่ยนไปสไลด์ 2 เริ่มจับเวลา 3 นาทีที่สไลด์ 2</a:t>
            </a:r>
          </a:p>
          <a:p>
            <a:r>
              <a:rPr lang="en-US"/>
              <a:t/>
            </a:r>
          </a:p>
          <a:p>
            <a:r>
              <a:rPr lang="en-US"/>
              <a:t>อ่านชื่อ EsKrow+ ว่า เอส-โคร-พลัส (มาจากคำว่า escrow)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0:00–0:20 เปิดเรื่อง</a:t>
            </a:r>
          </a:p>
          <a:p>
            <a:r>
              <a:rPr lang="en-US"/>
              <a:t/>
            </a:r>
          </a:p>
          <a:p>
            <a:r>
              <a:rPr lang="en-US"/>
              <a:t>นี่คือพลอยค่ะ อายุ 24 เพิ่งเริ่มงานแรก วันหนึ่งเธอเจอ iPhone 15 ในอินสตาแกรม ราคาแค่ 18,000 บาท ร้านบอกว่า “โอนก่อนนะคะ ส่งของให้วันนี้เลย” พลอยโอนไป… (เว้นจังหวะ) แล้วของก็ไม่เคยมาถึง</a:t>
            </a:r>
          </a:p>
          <a:p>
            <a:r>
              <a:rPr lang="en-US"/>
              <a:t/>
            </a:r>
          </a:p>
          <a:p>
            <a:r>
              <a:rPr lang="en-US"/>
              <a:t>พลอยไม่ได้ประมาทค่ะ แค่ทุกวันนี้ เราไม่มีวิธีจ่ายเงินให้คนแปลกหน้าอย่างปลอดภัยเลย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0:20–0:50 ปัญหาและกลุ่มเป้าหมาย</a:t>
            </a:r>
          </a:p>
          <a:p>
            <a:r>
              <a:rPr lang="en-US"/>
              <a:t/>
            </a:r>
          </a:p>
          <a:p>
            <a:r>
              <a:rPr lang="en-US"/>
              <a:t>ในเวลาแค่สองปีกว่า คนไทยเสียเงินให้มิจฉาชีพออนไลน์ไปแล้วกว่า 63,000 ล้านบาท กลุ่มที่โดนหนักที่สุดคือคนอายุ 20 ถึง 29 ปี คิดเป็น 28 เปอร์เซ็นต์ของผู้เสียหาย และส่วนใหญ่เริ่มต้นจากโซเชียลมีเดีย</a:t>
            </a:r>
          </a:p>
          <a:p>
            <a:r>
              <a:rPr lang="en-US"/>
              <a:t/>
            </a:r>
          </a:p>
          <a:p>
            <a:r>
              <a:rPr lang="en-US"/>
              <a:t>ปัญหาคือ ทุกวิธีที่เรามีวันนี้ เกิดขึ้นหลังจากเงินหายไปแล้วทั้งนั้น ทั้งแจ้งความ อายัดบัญชีม้า แล้วก็รอ สำหรับคนเพิ่งเริ่มทำงาน 18,000 บาทคือเงินเดือนเกือบทั้งเดือนค่ะ</a:t>
            </a:r>
          </a:p>
          <a:p>
            <a:r>
              <a:rPr lang="en-US"/>
              <a:t/>
            </a:r>
          </a:p>
          <a:p>
            <a:r>
              <a:rPr lang="en-US"/>
              <a:t>(ตัดได้ถ้าเกินเวลา) ส่วนธนาคาร ทุกเคสหมายถึงเรื่องร้องเรียน ชั่วโมงงานของคอลเซ็นเตอร์ และความเชื่อมั่นของลูกค้าที่หายไป</a:t>
            </a:r>
          </a:p>
          <a:p>
            <a:r>
              <a:rPr lang="en-US"/>
              <a:t/>
            </a:r>
          </a:p>
          <a:p>
            <a:r>
              <a:rPr lang="en-US"/>
              <a:t>ก่อนส่ง: ตรวจตัวเลข 63,000 ล้าน / 28% / โซเชียล กับแหล่งต้นฉบับ และพิจารณาใส่ที่มาเล็ก ๆ ใต้สไลด์นี้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0:50–1:50 โซลูชันและวิธีการทำงาน</a:t>
            </a:r>
          </a:p>
          <a:p>
            <a:r>
              <a:rPr lang="en-US"/>
              <a:t/>
            </a:r>
          </a:p>
          <a:p>
            <a:r>
              <a:rPr lang="en-US"/>
              <a:t>EsKrow+ ให้ธนาคารเข้ามาเป็นตัวกลางของการซื้อขาย ในแอปที่ทุกคนใช้อยู่แล้ว ใช้แค่ 4 ขั้นตอนค่ะ</a:t>
            </a:r>
          </a:p>
          <a:p>
            <a:r>
              <a:rPr lang="en-US"/>
              <a:t/>
            </a:r>
          </a:p>
          <a:p>
            <a:r>
              <a:rPr lang="en-US"/>
              <a:t>1. ดีลที่ธนาคารรับรอง ผู้ขายส่ง QR ของดีลที่ธนาคารเซ็นรับรองมาให้ แอปของพลอยตรวจลายเซ็นก่อนจ่ายทุกครั้ง QR ปลอมหรือ QR ที่ถูกแก้ไข จะถูกจับได้ทันที</a:t>
            </a:r>
          </a:p>
          <a:p>
            <a:r>
              <a:rPr lang="en-US"/>
              <a:t/>
            </a:r>
          </a:p>
          <a:p>
            <a:r>
              <a:rPr lang="en-US"/>
              <a:t>2. ตรวจความเสี่ยงแบบที่มิจฉาชีพปลอมไม่ได้ ธนาคารเห็นสิ่งที่คนอื่นไม่เห็น ทั้งอายุบัญชี เงินที่ไหลเข้าออก และประวัติการถูกแจ้งโกง ผู้ขายที่น่าเชื่อถือได้เงินทันที ส่วนผู้ขายที่มีความเสี่ยง เงินจะถูกพักไว้กับธนาคาร ผู้ขายแตะไม่ได้</a:t>
            </a:r>
          </a:p>
          <a:p>
            <a:r>
              <a:rPr lang="en-US"/>
              <a:t/>
            </a:r>
          </a:p>
          <a:p>
            <a:r>
              <a:rPr lang="en-US"/>
              <a:t>3. ผู้ขายส่งของ แล้วส่งเลขพัสดุ ตอนนี้เงินของพลอยถูกพักไว้แล้ว ผู้ขายส่งของ แล้วกรอกเลขพัสดุจากบริษัทขนส่งลงในแอป พลอยจะได้รับแจ้งเตือนให้ตรวจรายละเอียดพัสดุ ว่าส่งมาที่อยู่ของเธอ ในชื่อของเธอจริงไหม ถ้าดูแล้วไม่ถูกต้อง กดรายงานปุ่มเดียว เงินก็ยังถูกพักไว้</a:t>
            </a:r>
          </a:p>
          <a:p>
            <a:r>
              <a:rPr lang="en-US"/>
              <a:t/>
            </a:r>
          </a:p>
          <a:p>
            <a:r>
              <a:rPr lang="en-US"/>
              <a:t>4. กดปุ่มเดียวเพื่อจ่าย ถ้าทุกอย่างถูกต้อง พลอยกดยืนยัน เงินก็โอนถึงผู้ขายทันที ถ้าเธอไม่ตอบภายใน 48 ชั่วโมง ระบบจะโอนให้ผู้ขายเองอัตโนมัติ แต่ถ้าผู้ขายไม่ส่งเลขพัสดุภายใน 72 ชั่วโมง ดีลจะหมดอายุ และเงินจะกลับคืนให้พลอยเองค่ะ ไม่ต้องมีใครตัดสิน ไม่ต้องโต้เถียงกัน</a:t>
            </a:r>
          </a:p>
          <a:p>
            <a:r>
              <a:rPr lang="en-US"/>
              <a:t/>
            </a:r>
          </a:p>
          <a:p>
            <a:r>
              <a:rPr lang="en-US"/>
              <a:t>(ตัดได้ถ้าเกินเวลา) และเบื้องหลังระบบ ไม่มีพนักงานคนไหนโยกเงินก้อนนี้ได้ตามลำพัง ทุกคำขอถูกตรวจซ้ำแบบ Zero Trust ต้องมีคนอนุมัติสองคน และทุกการกระทำถูกบันทึกในล็อกที่แอบแก้ย้อนหลังไม่ได้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1:50–2:45 คุณค่าและผลกระทบ (ห้ามตัดช่วงนี้)</a:t>
            </a:r>
          </a:p>
          <a:p>
            <a:r>
              <a:rPr lang="en-US"/>
              <a:t/>
            </a:r>
          </a:p>
          <a:p>
            <a:r>
              <a:rPr lang="en-US"/>
              <a:t>แล้วธนาคารได้อะไรคะ</a:t>
            </a:r>
          </a:p>
          <a:p>
            <a:r>
              <a:rPr lang="en-US"/>
              <a:t/>
            </a:r>
          </a:p>
          <a:p>
            <a:r>
              <a:rPr lang="en-US"/>
              <a:t>อย่างแรก หยุดความเสียหายก่อนมันจะเกิด เราจับการโกงได้ตั้งแต่วินาทีที่กดจ่าย ไม่ใช่อีกหลายสัปดาห์ต่อมาในคิวเรื่องร้องเรียน</a:t>
            </a:r>
          </a:p>
          <a:p>
            <a:r>
              <a:rPr lang="en-US"/>
              <a:t/>
            </a:r>
          </a:p>
          <a:p>
            <a:r>
              <a:rPr lang="en-US"/>
              <a:t>อย่างที่สอง ผู้ขายสุจริตได้ประโยชน์ ผู้ขายที่น่าเชื่อถือได้เงินทันที และดีลที่ธนาคารรับรองจะกลายเป็นเครื่องหมายที่ผู้ซื้อมองหา และเพราะทั้งสองฝั่งต้องเป็นลูกค้าของธนาคาร ทุกดีลที่คุ้มครองจึงพาลูกค้าใหม่เข้ามาด้วย</a:t>
            </a:r>
          </a:p>
          <a:p>
            <a:r>
              <a:rPr lang="en-US"/>
              <a:t/>
            </a:r>
          </a:p>
          <a:p>
            <a:r>
              <a:rPr lang="en-US"/>
              <a:t>อย่างที่สาม ทุกดีลช่วยให้ระบบจับบัญชีม้าแม่นยำขึ้น เพื่อปกป้องลูกค้าทุกคน</a:t>
            </a:r>
          </a:p>
          <a:p>
            <a:r>
              <a:rPr lang="en-US"/>
              <a:t/>
            </a:r>
          </a:p>
          <a:p>
            <a:r>
              <a:rPr lang="en-US"/>
              <a:t>และทั้งหมดนี้สร้างบนสิ่งที่ธนาคารมีอยู่แล้ว ทั้ง พ.ร.บ.การดูแลผลประโยชน์ของคู่สัญญา ระบบโอนเงินเดิม และข้อมูลการโกงของธนาคารเอง ในเฟสที่สอง เราจะขยายให้ใช้ข้ามธนาคารได้ค่ะ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2:45–3:00 · ปิดท้าย</a:t>
            </a:r>
          </a:p>
          <a:p>
            <a:r>
              <a:rPr lang="en-US"/>
              <a:t/>
            </a:r>
          </a:p>
          <a:p>
            <a:r>
              <a:rPr lang="en-US"/>
              <a:t>ด้วย EsKrow+ พลอยไม่เสียเงินเลยแม้แต่บาทเดียว และมิจฉาชีพก็ไม่ได้อะไรไปเลย (เว้นจังหวะ) เราทำให้การซื้อของจากคนแปลกหน้า ปลอดภัยเหมือนซื้อจากหน้าร้าน และธนาคารคือเหตุผลที่ทำให้มันปลอดภัยค่ะ</a:t>
            </a:r>
          </a:p>
          <a:p>
            <a:r>
              <a:rPr lang="en-US"/>
              <a:t/>
            </a:r>
          </a:p>
          <a:p>
            <a:r>
              <a:rPr lang="en-US"/>
              <a:t>ขอบคุณค่ะ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3E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05029" y="3000548"/>
            <a:ext cx="12382500" cy="2640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70"/>
              </a:lnSpc>
              <a:spcBef>
                <a:spcPct val="0"/>
              </a:spcBef>
            </a:pPr>
            <a:r>
              <a:rPr lang="en-US" b="true" sz="19870" spc="-591" strike="noStrike" u="none">
                <a:solidFill>
                  <a:srgbClr val="000000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EsKrow+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5594" y="5661053"/>
            <a:ext cx="16192500" cy="578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59"/>
              </a:lnSpc>
              <a:spcBef>
                <a:spcPct val="0"/>
              </a:spcBef>
            </a:pPr>
            <a:r>
              <a:rPr lang="en-US" sz="4359" strike="noStrike" u="none">
                <a:solidFill>
                  <a:srgbClr val="000000"/>
                </a:solidFill>
                <a:latin typeface="Noto Sans Thai SemiCondensed"/>
                <a:ea typeface="Noto Sans Thai SemiCondensed"/>
                <a:cs typeface="Noto Sans Thai SemiCondensed"/>
                <a:sym typeface="Noto Sans Thai SemiCondensed"/>
              </a:rPr>
              <a:t>ธนาคารถือเงินไว้ให้ จนกว่าของจะถูกส่งจริง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1291" y="9048358"/>
            <a:ext cx="10477500" cy="28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2159">
                <a:solidFill>
                  <a:srgbClr val="6B6B66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ทีม EsKrow+ / Cyber Security &amp; Digital Trust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3E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35902" y="1166604"/>
            <a:ext cx="11239500" cy="154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94"/>
              </a:lnSpc>
            </a:pPr>
            <a:r>
              <a:rPr lang="en-US" b="true" sz="11694" spc="-468">
                <a:solidFill>
                  <a:srgbClr val="000000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พลอยโอนไป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4298" y="2428442"/>
            <a:ext cx="11239500" cy="266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47"/>
              </a:lnSpc>
            </a:pPr>
            <a:r>
              <a:rPr lang="en-US" b="true" sz="20047" spc="-401">
                <a:solidFill>
                  <a:srgbClr val="000000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18,000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0929" y="4525172"/>
            <a:ext cx="11239500" cy="154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94"/>
              </a:lnSpc>
            </a:pPr>
            <a:r>
              <a:rPr lang="en-US" b="true" sz="11694" spc="-468">
                <a:solidFill>
                  <a:srgbClr val="000000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บาท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1618" y="5888884"/>
            <a:ext cx="11430000" cy="1146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1"/>
              </a:lnSpc>
            </a:pPr>
            <a:r>
              <a:rPr lang="en-US" b="true" sz="8631" spc="-345">
                <a:solidFill>
                  <a:srgbClr val="000000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แล้วของไม่เคยมาถึง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8761" y="7241462"/>
            <a:ext cx="10953750" cy="65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spc="-89">
                <a:solidFill>
                  <a:srgbClr val="6B6B66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เธอไม่ได้ประมาท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6361" y="7994504"/>
            <a:ext cx="10953750" cy="65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spc="-89">
                <a:solidFill>
                  <a:srgbClr val="6B6B66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แค่ไม่มีวิธีจ่ายเงิน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8437" y="8702363"/>
            <a:ext cx="10953750" cy="65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spc="-89">
                <a:solidFill>
                  <a:srgbClr val="6B6B66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ให้คนแปลกหน้าอย่างปลอดภัย</a:t>
            </a:r>
          </a:p>
        </p:txBody>
      </p:sp>
      <p:sp>
        <p:nvSpPr>
          <p:cNvPr name="Freeform 13" id="13" descr="Instagram post selling an iPhone 15 for 18,000 baht, transfer first"/>
          <p:cNvSpPr/>
          <p:nvPr/>
        </p:nvSpPr>
        <p:spPr>
          <a:xfrm flipH="false" flipV="false" rot="0">
            <a:off x="12668250" y="771525"/>
            <a:ext cx="4114800" cy="8743950"/>
          </a:xfrm>
          <a:custGeom>
            <a:avLst/>
            <a:gdLst/>
            <a:ahLst/>
            <a:cxnLst/>
            <a:rect r="r" b="b" t="t" l="l"/>
            <a:pathLst>
              <a:path h="8743950" w="4114800">
                <a:moveTo>
                  <a:pt x="0" y="0"/>
                </a:moveTo>
                <a:lnTo>
                  <a:pt x="4114800" y="0"/>
                </a:lnTo>
                <a:lnTo>
                  <a:pt x="4114800" y="8743950"/>
                </a:lnTo>
                <a:lnTo>
                  <a:pt x="0" y="8743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2" r="0" b="-62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3E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96520" y="927679"/>
            <a:ext cx="14287500" cy="370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78"/>
              </a:lnSpc>
            </a:pPr>
            <a:r>
              <a:rPr lang="en-US" b="true" sz="27878" spc="-830">
                <a:solidFill>
                  <a:srgbClr val="000000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63,000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1638" y="4260753"/>
            <a:ext cx="9525000" cy="130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71"/>
              </a:lnSpc>
            </a:pPr>
            <a:r>
              <a:rPr lang="en-US" b="true" sz="9871" spc="-96">
                <a:solidFill>
                  <a:srgbClr val="000000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ล้านบาท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7243" y="5705255"/>
            <a:ext cx="14287500" cy="561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4"/>
              </a:lnSpc>
            </a:pPr>
            <a:r>
              <a:rPr lang="en-US" sz="3828" spc="-37">
                <a:solidFill>
                  <a:srgbClr val="6B6B66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ที่คนไทยเสียให้มิจฉาชีพออนไลน์ ในเวลาสองปีกว่า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7431" y="7096389"/>
            <a:ext cx="14287500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3392" spc="-33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อายุ 20–29 ปี โดนมากที่สุด คิดเป็น 28% ของผู้เสียหาย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6239" y="7924735"/>
            <a:ext cx="14287500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3392" spc="-33">
                <a:solidFill>
                  <a:srgbClr val="000000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ส่วนใหญ่เริ่มต้นจากโซเชียลมีเดีย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8200" y="8858250"/>
            <a:ext cx="14287500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3392" spc="-33" b="true">
                <a:solidFill>
                  <a:srgbClr val="000000"/>
                </a:solidFill>
                <a:latin typeface="Noto Sans Thai Bold"/>
                <a:ea typeface="Noto Sans Thai Bold"/>
                <a:cs typeface="Noto Sans Thai Bold"/>
                <a:sym typeface="Noto Sans Thai Bold"/>
              </a:rPr>
              <a:t>ทุกมาตรการวันนี้ เกิดขึ้นหลังเงินหายไปแล้ว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3E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04850" y="1047750"/>
            <a:ext cx="10287000" cy="959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7200" spc="-214">
                <a:solidFill>
                  <a:srgbClr val="000000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ธนาคารพักเงินไว้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4850" y="2133600"/>
            <a:ext cx="10287000" cy="959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7200" spc="-214">
                <a:solidFill>
                  <a:srgbClr val="000000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จนกว่าผู้ซื้อจะยืนยันของ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3844" y="8304053"/>
            <a:ext cx="3429000" cy="98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5"/>
              </a:lnSpc>
            </a:pPr>
            <a:r>
              <a:rPr lang="en-US" sz="2888" spc="-115">
                <a:solidFill>
                  <a:srgbClr val="000000"/>
                </a:solidFill>
                <a:latin typeface="Noto Sans Thai SemiCondensed"/>
                <a:ea typeface="Noto Sans Thai SemiCondensed"/>
                <a:cs typeface="Noto Sans Thai SemiCondensed"/>
                <a:sym typeface="Noto Sans Thai SemiCondensed"/>
              </a:rPr>
              <a:t>ผู้ขายส่ง QR</a:t>
            </a:r>
          </a:p>
          <a:p>
            <a:pPr algn="l">
              <a:lnSpc>
                <a:spcPts val="4045"/>
              </a:lnSpc>
            </a:pPr>
            <a:r>
              <a:rPr lang="en-US" sz="2888" spc="-115">
                <a:solidFill>
                  <a:srgbClr val="000000"/>
                </a:solidFill>
                <a:latin typeface="Noto Sans Thai SemiCondensed"/>
                <a:ea typeface="Noto Sans Thai SemiCondensed"/>
                <a:cs typeface="Noto Sans Thai SemiCondensed"/>
                <a:sym typeface="Noto Sans Thai SemiCondensed"/>
              </a:rPr>
              <a:t>ของดีลที่ธนาคารรับรอง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49752" y="8323222"/>
            <a:ext cx="622414" cy="115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70"/>
              </a:lnSpc>
            </a:pPr>
            <a:r>
              <a:rPr lang="en-US" b="true" sz="8770" spc="-261">
                <a:solidFill>
                  <a:srgbClr val="1F5C3A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61177" y="8304053"/>
            <a:ext cx="3286125" cy="98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5"/>
              </a:lnSpc>
            </a:pPr>
            <a:r>
              <a:rPr lang="en-US" sz="2888" spc="-115">
                <a:solidFill>
                  <a:srgbClr val="000000"/>
                </a:solidFill>
                <a:latin typeface="Noto Sans Thai SemiCondensed"/>
                <a:ea typeface="Noto Sans Thai SemiCondensed"/>
                <a:cs typeface="Noto Sans Thai SemiCondensed"/>
                <a:sym typeface="Noto Sans Thai SemiCondensed"/>
              </a:rPr>
              <a:t>ธนาคารตรวจ</a:t>
            </a:r>
          </a:p>
          <a:p>
            <a:pPr algn="l">
              <a:lnSpc>
                <a:spcPts val="4045"/>
              </a:lnSpc>
            </a:pPr>
            <a:r>
              <a:rPr lang="en-US" sz="2888" spc="-115">
                <a:solidFill>
                  <a:srgbClr val="000000"/>
                </a:solidFill>
                <a:latin typeface="Noto Sans Thai SemiCondensed"/>
                <a:ea typeface="Noto Sans Thai SemiCondensed"/>
                <a:cs typeface="Noto Sans Thai SemiCondensed"/>
                <a:sym typeface="Noto Sans Thai SemiCondensed"/>
              </a:rPr>
              <a:t>ความเสี่ยงของผู้ขาย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55635" y="8323222"/>
            <a:ext cx="622414" cy="115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70"/>
              </a:lnSpc>
            </a:pPr>
            <a:r>
              <a:rPr lang="en-US" b="true" sz="8770" spc="-261">
                <a:solidFill>
                  <a:srgbClr val="1F5C3A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88191" y="8304053"/>
            <a:ext cx="3667125" cy="98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5"/>
              </a:lnSpc>
            </a:pPr>
            <a:r>
              <a:rPr lang="en-US" sz="2888" spc="-115">
                <a:solidFill>
                  <a:srgbClr val="000000"/>
                </a:solidFill>
                <a:latin typeface="Noto Sans Thai SemiCondensed"/>
                <a:ea typeface="Noto Sans Thai SemiCondensed"/>
                <a:cs typeface="Noto Sans Thai SemiCondensed"/>
                <a:sym typeface="Noto Sans Thai SemiCondensed"/>
              </a:rPr>
              <a:t>ผู้ขายส่งของและเลขพัสดุ</a:t>
            </a:r>
          </a:p>
          <a:p>
            <a:pPr algn="l">
              <a:lnSpc>
                <a:spcPts val="4045"/>
              </a:lnSpc>
            </a:pPr>
            <a:r>
              <a:rPr lang="en-US" sz="2888" spc="-115">
                <a:solidFill>
                  <a:srgbClr val="000000"/>
                </a:solidFill>
                <a:latin typeface="Noto Sans Thai SemiCondensed"/>
                <a:ea typeface="Noto Sans Thai SemiCondensed"/>
                <a:cs typeface="Noto Sans Thai SemiCondensed"/>
                <a:sym typeface="Noto Sans Thai SemiCondensed"/>
              </a:rPr>
              <a:t>ผู้ซื้อตรวจรายละเอียด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09776" y="8323222"/>
            <a:ext cx="622414" cy="115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70"/>
              </a:lnSpc>
            </a:pPr>
            <a:r>
              <a:rPr lang="en-US" b="true" sz="8770" spc="-261">
                <a:solidFill>
                  <a:srgbClr val="1F5C3A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09594" y="8304053"/>
            <a:ext cx="3143250" cy="98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5"/>
              </a:lnSpc>
            </a:pPr>
            <a:r>
              <a:rPr lang="en-US" sz="2888" spc="-115">
                <a:solidFill>
                  <a:srgbClr val="000000"/>
                </a:solidFill>
                <a:latin typeface="Noto Sans Thai SemiCondensed"/>
                <a:ea typeface="Noto Sans Thai SemiCondensed"/>
                <a:cs typeface="Noto Sans Thai SemiCondensed"/>
                <a:sym typeface="Noto Sans Thai SemiCondensed"/>
              </a:rPr>
              <a:t>ผู้ซื้อกดยืนยัน</a:t>
            </a:r>
          </a:p>
          <a:p>
            <a:pPr algn="l">
              <a:lnSpc>
                <a:spcPts val="4045"/>
              </a:lnSpc>
            </a:pPr>
            <a:r>
              <a:rPr lang="en-US" sz="2888" spc="-115">
                <a:solidFill>
                  <a:srgbClr val="000000"/>
                </a:solidFill>
                <a:latin typeface="Noto Sans Thai SemiCondensed"/>
                <a:ea typeface="Noto Sans Thai SemiCondensed"/>
                <a:cs typeface="Noto Sans Thai SemiCondensed"/>
                <a:sym typeface="Noto Sans Thai SemiCondensed"/>
              </a:rPr>
              <a:t>เงินถึงผู้ขาย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0659" y="8323222"/>
            <a:ext cx="622414" cy="115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70"/>
              </a:lnSpc>
            </a:pPr>
            <a:r>
              <a:rPr lang="en-US" b="true" sz="8770" spc="-261">
                <a:solidFill>
                  <a:srgbClr val="1F5C3A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1</a:t>
            </a:r>
          </a:p>
        </p:txBody>
      </p:sp>
      <p:sp>
        <p:nvSpPr>
          <p:cNvPr name="Freeform 16" id="16" descr="Deal QR signed by the bank, verified on the buyer's phone"/>
          <p:cNvSpPr/>
          <p:nvPr/>
        </p:nvSpPr>
        <p:spPr>
          <a:xfrm flipH="false" flipV="false" rot="0">
            <a:off x="771525" y="3505200"/>
            <a:ext cx="2105025" cy="4476750"/>
          </a:xfrm>
          <a:custGeom>
            <a:avLst/>
            <a:gdLst/>
            <a:ahLst/>
            <a:cxnLst/>
            <a:rect r="r" b="b" t="t" l="l"/>
            <a:pathLst>
              <a:path h="4476750" w="2105025">
                <a:moveTo>
                  <a:pt x="0" y="0"/>
                </a:moveTo>
                <a:lnTo>
                  <a:pt x="2105025" y="0"/>
                </a:lnTo>
                <a:lnTo>
                  <a:pt x="2105025" y="4476750"/>
                </a:lnTo>
                <a:lnTo>
                  <a:pt x="0" y="4476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" r="0" b="-22"/>
            </a:stretch>
          </a:blipFill>
        </p:spPr>
      </p:sp>
      <p:sp>
        <p:nvSpPr>
          <p:cNvPr name="Freeform 17" id="17" descr="High-risk seller warning with reason categories"/>
          <p:cNvSpPr/>
          <p:nvPr/>
        </p:nvSpPr>
        <p:spPr>
          <a:xfrm flipH="false" flipV="false" rot="0">
            <a:off x="4953000" y="3505200"/>
            <a:ext cx="2105025" cy="4476750"/>
          </a:xfrm>
          <a:custGeom>
            <a:avLst/>
            <a:gdLst/>
            <a:ahLst/>
            <a:cxnLst/>
            <a:rect r="r" b="b" t="t" l="l"/>
            <a:pathLst>
              <a:path h="4476750" w="2105025">
                <a:moveTo>
                  <a:pt x="0" y="0"/>
                </a:moveTo>
                <a:lnTo>
                  <a:pt x="2105025" y="0"/>
                </a:lnTo>
                <a:lnTo>
                  <a:pt x="2105025" y="4476750"/>
                </a:lnTo>
                <a:lnTo>
                  <a:pt x="0" y="4476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2" r="0" b="-22"/>
            </a:stretch>
          </a:blipFill>
        </p:spPr>
      </p:sp>
      <p:sp>
        <p:nvSpPr>
          <p:cNvPr name="Freeform 18" id="18" descr="Buyer checks shipment details before confirming"/>
          <p:cNvSpPr/>
          <p:nvPr/>
        </p:nvSpPr>
        <p:spPr>
          <a:xfrm flipH="false" flipV="false" rot="0">
            <a:off x="9153525" y="3505200"/>
            <a:ext cx="2105025" cy="4476750"/>
          </a:xfrm>
          <a:custGeom>
            <a:avLst/>
            <a:gdLst/>
            <a:ahLst/>
            <a:cxnLst/>
            <a:rect r="r" b="b" t="t" l="l"/>
            <a:pathLst>
              <a:path h="4476750" w="2105025">
                <a:moveTo>
                  <a:pt x="0" y="0"/>
                </a:moveTo>
                <a:lnTo>
                  <a:pt x="2105025" y="0"/>
                </a:lnTo>
                <a:lnTo>
                  <a:pt x="2105025" y="4476750"/>
                </a:lnTo>
                <a:lnTo>
                  <a:pt x="0" y="4476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2" r="0" b="-22"/>
            </a:stretch>
          </a:blipFill>
        </p:spPr>
      </p:sp>
      <p:sp>
        <p:nvSpPr>
          <p:cNvPr name="Freeform 19" id="19" descr="Money paid to the seller after the buyer confirms"/>
          <p:cNvSpPr/>
          <p:nvPr/>
        </p:nvSpPr>
        <p:spPr>
          <a:xfrm flipH="false" flipV="false" rot="0">
            <a:off x="13706475" y="3505200"/>
            <a:ext cx="2105025" cy="4476750"/>
          </a:xfrm>
          <a:custGeom>
            <a:avLst/>
            <a:gdLst/>
            <a:ahLst/>
            <a:cxnLst/>
            <a:rect r="r" b="b" t="t" l="l"/>
            <a:pathLst>
              <a:path h="4476750" w="2105025">
                <a:moveTo>
                  <a:pt x="0" y="0"/>
                </a:moveTo>
                <a:lnTo>
                  <a:pt x="2105025" y="0"/>
                </a:lnTo>
                <a:lnTo>
                  <a:pt x="2105025" y="4476750"/>
                </a:lnTo>
                <a:lnTo>
                  <a:pt x="0" y="4476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2" r="0" b="-22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144250" y="2219325"/>
            <a:ext cx="685800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6B6B66"/>
                </a:solidFill>
                <a:latin typeface="Arimo"/>
                <a:ea typeface="Arimo"/>
                <a:cs typeface="Arimo"/>
                <a:sym typeface="Arimo"/>
              </a:rPr>
              <a:t>ไม่กดยืนยันภายใน 48 ชม. → โอนให้ผู้ขายอัตโนมัติ</a:t>
            </a:r>
          </a:p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6B6B66"/>
                </a:solidFill>
                <a:latin typeface="Arimo"/>
                <a:ea typeface="Arimo"/>
                <a:cs typeface="Arimo"/>
                <a:sym typeface="Arimo"/>
              </a:rPr>
              <a:t>ไม่ส่งเลขพัสดุภายใน 72 ชม. → คืนเงินผู้ซื้อ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3E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00994" y="885966"/>
            <a:ext cx="15240000" cy="153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555"/>
              </a:lnSpc>
              <a:spcBef>
                <a:spcPct val="0"/>
              </a:spcBef>
            </a:pPr>
            <a:r>
              <a:rPr lang="en-US" b="true" sz="11555" spc="-344" strike="noStrike" u="none">
                <a:solidFill>
                  <a:srgbClr val="000000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ธนาคารได้อะไร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8200" y="2962275"/>
            <a:ext cx="15240000" cy="689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0"/>
              </a:lnSpc>
            </a:pPr>
            <a:r>
              <a:rPr lang="en-US" sz="5290" spc="-157" b="true">
                <a:solidFill>
                  <a:srgbClr val="000000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หยุดความเสียหายก่อนเกิด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3752850"/>
            <a:ext cx="15240000" cy="49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sz="3254">
                <a:solidFill>
                  <a:srgbClr val="55554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จับการโกงได้ตอนกดจ่าย ไม่ใช่หลายสัปดาห์ต่อมาในคิวร้องเรียน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8200" y="4962525"/>
            <a:ext cx="15240000" cy="689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0"/>
              </a:lnSpc>
            </a:pPr>
            <a:r>
              <a:rPr lang="en-US" sz="5290" spc="-157" b="true">
                <a:solidFill>
                  <a:srgbClr val="000000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ได้ลูกค้าใหม่จากทุกดีล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7250" y="5753100"/>
            <a:ext cx="15240000" cy="49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sz="3254">
                <a:solidFill>
                  <a:srgbClr val="55554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ผู้ขายสุจริตได้เงินทันที และทั้งสองฝั่งเป็นลูกค้าของธนาคาร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8200" y="6962775"/>
            <a:ext cx="15240000" cy="689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0"/>
              </a:lnSpc>
            </a:pPr>
            <a:r>
              <a:rPr lang="en-US" sz="5290" spc="-157" b="true">
                <a:solidFill>
                  <a:srgbClr val="000000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จับบัญชีม้าได้แม่นขึ้น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7250" y="7753350"/>
            <a:ext cx="15240000" cy="49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sz="3254">
                <a:solidFill>
                  <a:srgbClr val="55554F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ทุกดีล คือข้อมูลที่ทำให้ระบบตรวจความเสี่ยงคมขึ้น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8200" y="9286875"/>
            <a:ext cx="16764000" cy="428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8"/>
              </a:lnSpc>
            </a:pPr>
            <a:r>
              <a:rPr lang="en-US" sz="2906">
                <a:solidFill>
                  <a:srgbClr val="6B6B66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สร้างบน พ.ร.บ.การดูแลผลประโยชน์ของคู่สัญญา และระบบโอนเงินที่มีอยู่แล้ว เฟสถัดไปขยายข้ามธนาคาร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3E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38807" y="1285830"/>
            <a:ext cx="11239500" cy="186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21"/>
              </a:lnSpc>
            </a:pPr>
            <a:r>
              <a:rPr lang="en-US" b="true" sz="13921" spc="-557">
                <a:solidFill>
                  <a:srgbClr val="000000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พลอยเสีย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0876" y="2811831"/>
            <a:ext cx="1905000" cy="2444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76"/>
              </a:lnSpc>
            </a:pPr>
            <a:r>
              <a:rPr lang="en-US" b="true" sz="18376" spc="-735">
                <a:solidFill>
                  <a:srgbClr val="000000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92566" y="2948729"/>
            <a:ext cx="6667500" cy="2237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45"/>
              </a:lnSpc>
            </a:pPr>
            <a:r>
              <a:rPr lang="en-US" b="true" sz="16845" spc="-674">
                <a:solidFill>
                  <a:srgbClr val="000000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บาท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8719" y="5031812"/>
            <a:ext cx="11239500" cy="166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29"/>
              </a:lnSpc>
            </a:pPr>
            <a:r>
              <a:rPr lang="en-US" b="true" sz="12529" spc="-501">
                <a:solidFill>
                  <a:srgbClr val="000000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มิจฉาชีพได้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0876" y="6381250"/>
            <a:ext cx="1905000" cy="2444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76"/>
              </a:lnSpc>
            </a:pPr>
            <a:r>
              <a:rPr lang="en-US" b="true" sz="18376" spc="-735">
                <a:solidFill>
                  <a:srgbClr val="000000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92566" y="6518148"/>
            <a:ext cx="6667500" cy="2237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45"/>
              </a:lnSpc>
            </a:pPr>
            <a:r>
              <a:rPr lang="en-US" b="true" sz="16845" spc="-674">
                <a:solidFill>
                  <a:srgbClr val="000000"/>
                </a:solidFill>
                <a:latin typeface="Noto Sans Thai SemiCondensed Bold"/>
                <a:ea typeface="Noto Sans Thai SemiCondensed Bold"/>
                <a:cs typeface="Noto Sans Thai SemiCondensed Bold"/>
                <a:sym typeface="Noto Sans Thai SemiCondensed Bold"/>
              </a:rPr>
              <a:t>บาท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9551" y="8967437"/>
            <a:ext cx="5715000" cy="492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6"/>
              </a:lnSpc>
            </a:pPr>
            <a:r>
              <a:rPr lang="en-US" sz="3796">
                <a:solidFill>
                  <a:srgbClr val="6B6B66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ขอบคุณค่ะ</a:t>
            </a:r>
          </a:p>
        </p:txBody>
      </p:sp>
      <p:sp>
        <p:nvSpPr>
          <p:cNvPr name="Freeform 13" id="13" descr="Refund of 18,000 baht back to the buyer's account"/>
          <p:cNvSpPr/>
          <p:nvPr/>
        </p:nvSpPr>
        <p:spPr>
          <a:xfrm flipH="false" flipV="false" rot="0">
            <a:off x="12668250" y="771525"/>
            <a:ext cx="4114800" cy="8743950"/>
          </a:xfrm>
          <a:custGeom>
            <a:avLst/>
            <a:gdLst/>
            <a:ahLst/>
            <a:cxnLst/>
            <a:rect r="r" b="b" t="t" l="l"/>
            <a:pathLst>
              <a:path h="8743950" w="4114800">
                <a:moveTo>
                  <a:pt x="0" y="0"/>
                </a:moveTo>
                <a:lnTo>
                  <a:pt x="4114800" y="0"/>
                </a:lnTo>
                <a:lnTo>
                  <a:pt x="4114800" y="8743950"/>
                </a:lnTo>
                <a:lnTo>
                  <a:pt x="0" y="8743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2" r="0" b="-62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DAHZVPO88NY</dc:identifier>
  <dcterms:modified xsi:type="dcterms:W3CDTF">2011-08-01T06:04:30Z</dcterms:modified>
  <cp:revision>1</cp:revision>
  <dc:title>EsKrow+ Pitch (TH)</dc:title>
</cp:coreProperties>
</file>