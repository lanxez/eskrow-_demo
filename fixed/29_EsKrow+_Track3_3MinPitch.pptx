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7" r:id="rId7"/>
    <p:sldId id="261" r:id="rId8"/>
    <p:sldId id="262" r:id="rId9"/>
    <p:sldId id="263" r:id="rId10"/>
    <p:sldId id="264" r:id="rId11"/>
    <p:sldId id="265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0:00–0:20 เปิดเรื่อง</a:t>
            </a:r>
          </a:p>
          <a:p>
            <a:endParaRPr lang="th-TH"/>
          </a:p>
          <a:p>
            <a:r>
              <a:rPr lang="th-TH"/>
              <a:t>นี่คือพลอยค่ะ อายุ 24 เพิ่งเริ่มงานแรก วันหนึ่งเธอเจอ </a:t>
            </a:r>
            <a:r>
              <a:rPr lang="en-US"/>
              <a:t>iPhone 15 </a:t>
            </a:r>
            <a:r>
              <a:rPr lang="th-TH"/>
              <a:t>ในอินสตาแกรม ราคาแค่ 20,000 บาท ร้านบอกว่า “โอนก่อนนะคะ ส่งของให้วันนี้เลย” พลอยโอนไป… (เว้นจังหวะ) แล้วของก็ไม่เคยมาถึง</a:t>
            </a:r>
          </a:p>
          <a:p>
            <a:endParaRPr lang="th-TH"/>
          </a:p>
          <a:p>
            <a:r>
              <a:rPr lang="th-TH"/>
              <a:t>พลอยไม่ได้ประมาทค่ะ แค่ทุกวันนี้ เราไม่มีวิธีจ่ายเงินให้คนแปลกหน้าอย่างปลอดภัยเลย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23172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0:00–0:20 เปิดเรื่อง</a:t>
            </a:r>
          </a:p>
          <a:p>
            <a:endParaRPr lang="en-US"/>
          </a:p>
          <a:p>
            <a:r>
              <a:rPr lang="en-US"/>
              <a:t>นี่คือพลอยค่ะ อายุ 24 เพิ่งเริ่มงานแรก วันหนึ่งเธอเจอ iPhone 15 ในอินสตาแกรม ราคาแค่ 20,000 บาท ร้านบอกว่า “โอนก่อนนะคะ ส่งของให้วันนี้เลย” พลอยโอนไป… (เว้นจังหวะ) แล้วของก็ไม่เคยมาถึง</a:t>
            </a:r>
          </a:p>
          <a:p>
            <a:endParaRPr lang="en-US"/>
          </a:p>
          <a:p>
            <a:r>
              <a:rPr lang="en-US"/>
              <a:t>พลอยไม่ได้ประมาทค่ะ แค่ทุกวันนี้ เราไม่มีวิธีจ่ายเงินให้คนแปลกหน้าอย่างปลอดภัยเลย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0:20–0:50 ปัญหาและกลุ่มเป้าหมาย</a:t>
            </a:r>
          </a:p>
          <a:p>
            <a:endParaRPr lang="en-US"/>
          </a:p>
          <a:p>
            <a:r>
              <a:rPr lang="en-US"/>
              <a:t>ในเวลาแค่สองปีกว่า คนไทยเสียเงินให้มิจฉาชีพออนไลน์ไปแล้วกว่า 63,000 ล้านบาท กลุ่มที่โดนหนักที่สุดคือคนอายุ 20 ถึง 29 ปี คิดเป็น 28 เปอร์เซ็นต์ของผู้เสียหาย และส่วนใหญ่เริ่มต้นจากโซเชียลมีเดีย</a:t>
            </a:r>
          </a:p>
          <a:p>
            <a:endParaRPr lang="en-US"/>
          </a:p>
          <a:p>
            <a:r>
              <a:rPr lang="en-US"/>
              <a:t>ปัญหาคือ ทุกวิธีที่เรามีวันนี้ เกิดขึ้นหลังจากเงินหายไปแล้วทั้งนั้น ทั้งแจ้งความ อายัดบัญชีม้า แล้วก็รอ สำหรับคนเพิ่งเริ่มทำงาน 20,000 บาทคือเงินเดือนเกือบทั้งเดือนค่ะ</a:t>
            </a:r>
          </a:p>
          <a:p>
            <a:endParaRPr lang="en-US"/>
          </a:p>
          <a:p>
            <a:r>
              <a:rPr lang="en-US"/>
              <a:t>(ตัดได้ถ้าเกินเวลา) ส่วนธนาคาร ทุกเคสหมายถึงเรื่องร้องเรียน ชั่วโมงงานของคอลเซ็นเตอร์ และความเชื่อมั่นของลูกค้าที่หายไป</a:t>
            </a:r>
          </a:p>
          <a:p>
            <a:endParaRPr lang="en-US"/>
          </a:p>
          <a:p>
            <a:r>
              <a:rPr lang="en-US"/>
              <a:t>ก่อนส่ง: ตรวจตัวเลข 63,000 ล้าน / 28% / โซเชียล กับแหล่งต้นฉบับ และพิจารณาใส่ที่มาเล็ก ๆ ใต้สไลด์นี้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0:50–1:50 โซลูชันและวิธีการทำงาน</a:t>
            </a:r>
          </a:p>
          <a:p>
            <a:endParaRPr lang="en-US"/>
          </a:p>
          <a:p>
            <a:r>
              <a:rPr lang="en-US"/>
              <a:t>EsKrow+ ให้ธนาคารเข้ามาเป็นตัวกลางของการซื้อขาย ในแอปที่ทุกคนใช้อยู่แล้ว ใช้แค่ 4 ขั้นตอนค่ะ</a:t>
            </a:r>
          </a:p>
          <a:p>
            <a:endParaRPr lang="en-US"/>
          </a:p>
          <a:p>
            <a:r>
              <a:rPr lang="en-US"/>
              <a:t>1. ดีลที่ธนาคารรับรอง ผู้ขายส่ง QR ของดีลที่ธนาคารเซ็นรับรองมาให้ แอปของพลอยตรวจลายเซ็นก่อนจ่ายทุกครั้ง QR ปลอมหรือ QR ที่ถูกแก้ไข จะถูกจับได้ทันที</a:t>
            </a:r>
          </a:p>
          <a:p>
            <a:endParaRPr lang="en-US"/>
          </a:p>
          <a:p>
            <a:r>
              <a:rPr lang="en-US"/>
              <a:t>2. ตรวจความเสี่ยงสองชั้น ชั้นแรก ระบบเช็กสถานะบัญชีของผู้ขายจากระบบหลักของธนาคาร บัญชีที่ถูกอายัดตามคำสั่งหน่วยงานรัฐจะสร้างดีลไม่ได้ ชั้นที่สอง ธนาคารวิเคราะห์ข้อมูลบัญชีและธุรกรรม เช่น อายุบัญชี และเงินที่ไหลเข้าออกผิดปกติ เพื่อจับบัญชีม้าที่ยังไม่ถูกแจ้ง ไม่ว่าผลจะออกมาอย่างไร เงินของพลอยจะถูกพักไว้กับธนาคารทุกดีล ผู้ขายแตะไม่ได้จนกว่าเธอจะยืนยัน</a:t>
            </a:r>
          </a:p>
          <a:p>
            <a:endParaRPr lang="en-US"/>
          </a:p>
          <a:p>
            <a:r>
              <a:rPr lang="en-US"/>
              <a:t>3. ผู้ขายส่งของ แล้วส่งเลขพัสดุ ตอนนี้เงินของพลอยถูกพักไว้แล้ว ผู้ขายส่งของ แล้วกรอกเลขพัสดุจากบริษัทขนส่งลงในแอป พลอยจะได้รับแจ้งเตือนให้ตรวจรายละเอียดพัสดุ ว่าส่งมาที่อยู่ของเธอ ในชื่อของเธอจริงไหม ถ้าดูแล้วไม่ถูกต้อง กดรายงานปุ่มเดียว เงินก็ยังถูกพักไว้</a:t>
            </a:r>
          </a:p>
          <a:p>
            <a:endParaRPr lang="en-US"/>
          </a:p>
          <a:p>
            <a:r>
              <a:rPr lang="en-US"/>
              <a:t>4. กดปุ่มเดียวเพื่อจ่าย ถ้าทุกอย่างถูกต้อง พลอยกดยืนยัน เงินก็โอนถึงผู้ขายทันที ถ้าเธอไม่ตอบภายใน 24 ชั่วโมง ระบบจะโอนให้ผู้ขายเองอัตโนมัติ แต่ถ้าผู้ขายไม่ส่งเลขพัสดุภายใน 48 ชั่วโมง ดีลจะหมดอายุ และเงินจะกลับคืนให้พลอยเองค่ะ ไม่ต้องมีใครตัดสิน ไม่ต้องโต้เถียงกัน</a:t>
            </a:r>
          </a:p>
          <a:p>
            <a:endParaRPr lang="en-US"/>
          </a:p>
          <a:p>
            <a:r>
              <a:rPr lang="en-US"/>
              <a:t>(ตัดได้ถ้าเกินเวลา) และเบื้องหลังระบบ ไม่มีพนักงานคนไหนโยกเงินก้อนนี้ได้ตามลำพัง ทุกคำขอถูกตรวจซ้ำแบบ Zero Trust ต้องมีคนอนุมัติสองคน และทุกการกระทำถูกบันทึกในล็อกที่แอบแก้ย้อนหลังไม่ได้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1:50–2:45 คุณค่าและผลกระทบ (ห้ามตัดช่วงนี้)</a:t>
            </a:r>
          </a:p>
          <a:p>
            <a:endParaRPr lang="en-US"/>
          </a:p>
          <a:p>
            <a:r>
              <a:rPr lang="en-US"/>
              <a:t>แล้วธนาคารได้อะไรคะ</a:t>
            </a:r>
          </a:p>
          <a:p>
            <a:endParaRPr lang="en-US"/>
          </a:p>
          <a:p>
            <a:r>
              <a:rPr lang="en-US"/>
              <a:t>อย่างแรก หยุดความเสียหายก่อนมันจะเกิด เราจับการโกงได้ตั้งแต่วินาทีที่กดจ่าย ไม่ใช่อีกหลายสัปดาห์ต่อมาในคิวเรื่องร้องเรียน</a:t>
            </a:r>
          </a:p>
          <a:p>
            <a:endParaRPr lang="en-US"/>
          </a:p>
          <a:p>
            <a:r>
              <a:rPr lang="en-US"/>
              <a:t>อย่างที่สอง ผู้ขายสุจริตได้ประโยชน์ ดีลที่ธนาคารรับรองจะกลายเป็นเครื่องหมายที่ผู้ซื้อมองหา ผู้ขายสุจริตจึงขายของให้คนแปลกหน้าได้ง่ายขึ้น และเพราะทั้งสองฝั่งต้องเป็นลูกค้าของธนาคาร ทุกดีลที่คุ้มครองจึงพาลูกค้าใหม่เข้ามาด้วย</a:t>
            </a:r>
          </a:p>
          <a:p>
            <a:endParaRPr lang="en-US"/>
          </a:p>
          <a:p>
            <a:r>
              <a:rPr lang="en-US"/>
              <a:t>อย่างที่สาม ป้องกันการใช้บัญชีม้า ทุกดีลต้องสแกนใบหน้าแบบสดทั้งผู้ซื้อและผู้ขาย บัญชีม้าจึงถูกนำมาใช้ได้ยาก และถ้ามีปัญหา ก็ตามตัวเจ้าของบัญชีตัวจริงได้ง่ายขึ้น</a:t>
            </a:r>
          </a:p>
          <a:p>
            <a:endParaRPr lang="en-US"/>
          </a:p>
          <a:p>
            <a:r>
              <a:rPr lang="en-US"/>
              <a:t>และทั้งหมดนี้สร้างบนสิ่งที่ธนาคารมีอยู่แล้ว ทั้ง พ.ร.บ.การดูแลผลประโยชน์ของคู่สัญญา ระบบโอนเงินเดิม และข้อมูลการโกงของธนาคารเอง ในเฟสที่สอง เราจะขยายให้ใช้ข้ามธนาคารได้ค่ะ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0:50–1:50 โซลูชันและวิธีการทำงาน</a:t>
            </a:r>
          </a:p>
          <a:p>
            <a:endParaRPr lang="en-US"/>
          </a:p>
          <a:p>
            <a:r>
              <a:rPr lang="en-US"/>
              <a:t>EsKrow+ ให้ธนาคารเข้ามาเป็นตัวกลางของการซื้อขาย ในแอปที่ทุกคนใช้อยู่แล้ว ใช้แค่ 4 ขั้นตอนค่ะ</a:t>
            </a:r>
          </a:p>
          <a:p>
            <a:endParaRPr lang="en-US"/>
          </a:p>
          <a:p>
            <a:r>
              <a:rPr lang="en-US"/>
              <a:t>1. ดีลที่ธนาคารรับรอง ผู้ขายส่ง QR ของดีลที่ธนาคารเซ็นรับรองมาให้ แอปของพลอยตรวจลายเซ็นก่อนจ่ายทุกครั้ง QR ปลอมหรือ QR ที่ถูกแก้ไข จะถูกจับได้ทันที</a:t>
            </a:r>
          </a:p>
          <a:p>
            <a:endParaRPr lang="en-US"/>
          </a:p>
          <a:p>
            <a:r>
              <a:rPr lang="en-US"/>
              <a:t>2. ตรวจความเสี่ยงสองชั้น ชั้นแรก ระบบเช็กสถานะบัญชีของผู้ขายจากระบบหลักของธนาคาร บัญชีที่ถูกอายัดตามคำสั่งหน่วยงานรัฐจะสร้างดีลไม่ได้ ชั้นที่สอง ธนาคารวิเคราะห์ข้อมูลบัญชีและธุรกรรม เช่น อายุบัญชี และเงินที่ไหลเข้าออกผิดปกติ เพื่อจับบัญชีม้าที่ยังไม่ถูกแจ้ง ไม่ว่าผลจะออกมาอย่างไร เงินของพลอยจะถูกพักไว้กับธนาคารทุกดีล ผู้ขายแตะไม่ได้จนกว่าเธอจะยืนยัน</a:t>
            </a:r>
          </a:p>
          <a:p>
            <a:endParaRPr lang="en-US"/>
          </a:p>
          <a:p>
            <a:r>
              <a:rPr lang="en-US"/>
              <a:t>3. ผู้ขายส่งของ แล้วส่งเลขพัสดุ ตอนนี้เงินของพลอยถูกพักไว้แล้ว ผู้ขายส่งของ แล้วกรอกเลขพัสดุจากบริษัทขนส่งลงในแอป พลอยจะได้รับแจ้งเตือนให้ตรวจรายละเอียดพัสดุ ว่าส่งมาที่อยู่ของเธอ ในชื่อของเธอจริงไหม ถ้าดูแล้วไม่ถูกต้อง กดรายงานปุ่มเดียว เงินก็ยังถูกพักไว้</a:t>
            </a:r>
          </a:p>
          <a:p>
            <a:endParaRPr lang="en-US"/>
          </a:p>
          <a:p>
            <a:r>
              <a:rPr lang="en-US"/>
              <a:t>4. กดปุ่มเดียวเพื่อจ่าย ถ้าทุกอย่างถูกต้อง พลอยกดยืนยัน เงินก็โอนถึงผู้ขายทันที ถ้าเธอไม่ตอบภายใน 24 ชั่วโมง ระบบจะโอนให้ผู้ขายเองอัตโนมัติ แต่ถ้าผู้ขายไม่ส่งเลขพัสดุภายใน 48 ชั่วโมง ดีลจะหมดอายุ และเงินจะกลับคืนให้พลอยเองค่ะ ไม่ต้องมีใครตัดสิน ไม่ต้องโต้เถียงกัน</a:t>
            </a:r>
          </a:p>
          <a:p>
            <a:endParaRPr lang="en-US"/>
          </a:p>
          <a:p>
            <a:r>
              <a:rPr lang="en-US"/>
              <a:t>(ตัดได้ถ้าเกินเวลา) และเบื้องหลังระบบ ไม่มีพนักงานคนไหนโยกเงินก้อนนี้ได้ตามลำพัง ทุกคำขอถูกตรวจซ้ำแบบ Zero Trust ต้องมีคนอนุมัติสองคน และทุกการกระทำถูกบันทึกในล็อกที่แอบแก้ย้อนหลังไม่ได้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2:45–3:00 · ปิดท้าย</a:t>
            </a:r>
          </a:p>
          <a:p>
            <a:endParaRPr lang="en-US"/>
          </a:p>
          <a:p>
            <a:r>
              <a:rPr lang="en-US"/>
              <a:t>ด้วย EsKrow+ พลอยไม่เสียเงินเลยแม้แต่บาทเดียว และมิจฉาชีพก็ไม่ได้อะไรไปเลย (เว้นจังหวะ) เราทำให้การซื้อของจากคนแปลกหน้า ปลอดภัยเหมือนซื้อจากหน้าร้าน และธนาคารคือเหตุผลที่ทำให้มันปลอดภัยค่ะ</a:t>
            </a:r>
          </a:p>
          <a:p>
            <a:endParaRPr lang="en-US"/>
          </a:p>
          <a:p>
            <a:r>
              <a:rPr lang="en-US"/>
              <a:t>ขอบคุณค่ะ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thaigovdata.com/safety" TargetMode="External"/><Relationship Id="rId4" Type="http://schemas.openxmlformats.org/officeDocument/2006/relationships/hyperlink" Target="https://saranitet.police.go.th/commanders-mission/crime-prevention-and-suppression_10052026_62701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53D25">
                <a:alpha val="100000"/>
              </a:srgbClr>
            </a:gs>
            <a:gs pos="50000">
              <a:srgbClr val="007067">
                <a:alpha val="100000"/>
              </a:srgbClr>
            </a:gs>
            <a:gs pos="100000">
              <a:srgbClr val="02353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 1" descr="Es     row | K | + | &quot;Buy Anywhere. Pay with Protection.&quot;">
            <a:extLst>
              <a:ext uri="{FF2B5EF4-FFF2-40B4-BE49-F238E27FC236}">
                <a16:creationId xmlns:a16="http://schemas.microsoft.com/office/drawing/2014/main" id="{8803EF73-8395-FE96-495A-CD38160EB41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 2" descr="Instagram post selling an iPhone 15 for 20,000 baht, a masked scammer behind the phone and a surprised Ploy beside it">
            <a:extLst>
              <a:ext uri="{FF2B5EF4-FFF2-40B4-BE49-F238E27FC236}">
                <a16:creationId xmlns:a16="http://schemas.microsoft.com/office/drawing/2014/main" id="{5AA68673-1943-E310-7641-E4F523C108F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437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 3" descr="พลอยโอนไป | 20,000 บาท | แล้วของไม่เคยมาถึง | เธอไม่ได้ประมาท | แค่ไม่มีวิธีจ่ายเงิน | ให้”คนแปลกหน้า”             อย่าง”ปลอดภัย”">
            <a:extLst>
              <a:ext uri="{FF2B5EF4-FFF2-40B4-BE49-F238E27FC236}">
                <a16:creationId xmlns:a16="http://schemas.microsoft.com/office/drawing/2014/main" id="{1690DF11-E6EE-F3C2-6100-CAB13F64DE6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 4" descr="โกงออนไลน์ | ปัญหาที่ยืดเยื้อ  และมีแนวโน้ม “เพิ่มขึ้น” ทุกปี | ทุกมาตรการวันนี้ เกิดขึ้นหลังเงินหายไปแล้ว">
            <a:extLst>
              <a:ext uri="{FF2B5EF4-FFF2-40B4-BE49-F238E27FC236}">
                <a16:creationId xmlns:a16="http://schemas.microsoft.com/office/drawing/2014/main" id="{691A7C6D-7960-6464-DE33-76ECA7FE2E7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 5" descr="7.48 | พันล้านบาท | ของคดีออนไลน์ทั้งหมด | เป็นคดีหลอกลวงสินค้าและบริการ | มูลค่าความเสียหายรวม ในช่วง 4 เดือนแรกในปี 2569 | 85,215 | คดี | จากคดีอาชญากรรมออนไลน์ 121,921 คดี | 176,154 | First Jobber อายุ 22–29 ปี | จากฐานข้อมูลผู้เสียหายสะสม ช่วงปี 2565-2567 | ตกเป็นผู้เสียหายในคดีอาชญากรรมออนไลน์ | 24.4 % | คิดเป็น | 69.9% | คิดเป็น | คน | สำนักงานตำรวจแห่งชาติ – สถิติ 120 วันแรก ปี 2569⁠ | ThaiGovData – สถิติอาชญากรรมออนไลน์ อ้างอิงสำนักงานตำรวจแห่งชาติ⁠">
            <a:extLst>
              <a:ext uri="{FF2B5EF4-FFF2-40B4-BE49-F238E27FC236}">
                <a16:creationId xmlns:a16="http://schemas.microsoft.com/office/drawing/2014/main" id="{30841F7A-CAA9-0EA3-08A3-0F7DF23C287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5" name="Source link 1" descr="Source link 1">
            <a:hlinkClick r:id="rId4"/>
            <a:extLst>
              <a:ext uri="{FF2B5EF4-FFF2-40B4-BE49-F238E27FC236}">
                <a16:creationId xmlns:a16="http://schemas.microsoft.com/office/drawing/2014/main" id="{24B5AC66-ACE7-05B6-BDF8-30E1C742FED1}"/>
              </a:ext>
            </a:extLst>
          </p:cNvPr>
          <p:cNvSpPr/>
          <p:nvPr/>
        </p:nvSpPr>
        <p:spPr>
          <a:xfrm>
            <a:off x="1422400" y="9283700"/>
            <a:ext cx="6870700" cy="431800"/>
          </a:xfrm>
          <a:prstGeom prst="rect">
            <a:avLst/>
          </a:prstGeom>
          <a:solidFill>
            <a:schemeClr val="accent1">
              <a:alpha val="0"/>
            </a:scheme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6" name="Source link 2" descr="Source link 2">
            <a:hlinkClick r:id="rId5"/>
            <a:extLst>
              <a:ext uri="{FF2B5EF4-FFF2-40B4-BE49-F238E27FC236}">
                <a16:creationId xmlns:a16="http://schemas.microsoft.com/office/drawing/2014/main" id="{98088DFA-E778-4625-2E81-A1108FC23193}"/>
              </a:ext>
            </a:extLst>
          </p:cNvPr>
          <p:cNvSpPr/>
          <p:nvPr/>
        </p:nvSpPr>
        <p:spPr>
          <a:xfrm>
            <a:off x="9042400" y="9283700"/>
            <a:ext cx="8775700" cy="431800"/>
          </a:xfrm>
          <a:prstGeom prst="rect">
            <a:avLst/>
          </a:prstGeom>
          <a:solidFill>
            <a:schemeClr val="accent1">
              <a:alpha val="0"/>
            </a:scheme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 7" descr="Flow diagram of EsKrow+: seller creates the deal, buyer accepts and pays, the bank holds the money, seller sends shipping proof, then the money goes to the seller or back to the buyer">
            <a:extLst>
              <a:ext uri="{FF2B5EF4-FFF2-40B4-BE49-F238E27FC236}">
                <a16:creationId xmlns:a16="http://schemas.microsoft.com/office/drawing/2014/main" id="{51B61BB0-A3C5-8D1B-B918-BF7CB3640F3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349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4F48">
                <a:alpha val="100000"/>
              </a:srgbClr>
            </a:gs>
            <a:gs pos="100000">
              <a:srgbClr val="072B2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 9" descr="ธนาคารพักเงินไว้ | จนกว่าผู้ซื้อจะยืนยันของ | ไม่กดยืนยันภายใน 24 ชม. → โอนให้ผู้ขายอัตโนมัติ ไม่ส่งเลขพัสดุภายใน 48 ชม. → คืนเงินผู้ซื้อ | ผู้ขายส่ง QR ของดีลที่ธนาคารรับรอง | 2 | เช็กสถานะบัญชี และธุรกรรมของผู้ขาย | 3 | ผู้ขายส่งของและเลขพัสดุเพื่อเป็นหลักฐาน | 4 | ผู้ซื้อกดยืนยัน เงินถึงผู้ขาย | 1">
            <a:extLst>
              <a:ext uri="{FF2B5EF4-FFF2-40B4-BE49-F238E27FC236}">
                <a16:creationId xmlns:a16="http://schemas.microsoft.com/office/drawing/2014/main" id="{2FF3CA27-87BF-5568-4284-F352FF398F2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 10" descr="หยุดความเสียหายก่อนเกิด | เตือนและพักเงินตั้งแต่ตอนกดจ่าย ไม่ใช่หลายสัปดาห์ต่อมาในคิวร้องเรียน | ธนาคารได้อะไร ? | ได้ลูกค้าใหม่จากทุกดีล | ทั้งสองฝั่งต้องเป็นลูกค้าธนาคาร ผู้ขายสุจริตมีเครื่องหมายที่ผู้ซื้อเชื่อถือ | ป้องกันการใช้บัญชีม้า | ตรวจบัญชีผู้ขายก่อนรับเงิน และสแกนหน้าทุกดีล จึงตามตัวเจ้าของบัญชีตัวจริงได้ | สร้างบน พ.ร.บ.การดูแลผลประโยชน์ของคู่สัญญา และระบบโอนเงินที่มีอยู่แล้ว">
            <a:extLst>
              <a:ext uri="{FF2B5EF4-FFF2-40B4-BE49-F238E27FC236}">
                <a16:creationId xmlns:a16="http://schemas.microsoft.com/office/drawing/2014/main" id="{055AFC24-B555-815E-AC3D-8AC9FFB8BBB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53D25">
                <a:alpha val="100000"/>
              </a:srgbClr>
            </a:gs>
            <a:gs pos="50000">
              <a:srgbClr val="007067">
                <a:alpha val="100000"/>
              </a:srgbClr>
            </a:gs>
            <a:gs pos="100000">
              <a:srgbClr val="02353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 11" descr="หากสามารถป้องกันความเสียหายได้ 1% จากมูลค่าความเสียหายที่ประเมินไว้ประมาณ 4,000 ล้านบาทต่อปี | 40  ล้านบาท | ลดความเสียหายจาก การหลอกซื้อขายออนไลน์ | / ปี">
            <a:extLst>
              <a:ext uri="{FF2B5EF4-FFF2-40B4-BE49-F238E27FC236}">
                <a16:creationId xmlns:a16="http://schemas.microsoft.com/office/drawing/2014/main" id="{5C72A3F8-202A-A0A1-3AE5-DFA34009632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 12" descr="พลอยเสีย | 0 | บาท | มิจฉาชีพได้ | 0 | บาท">
            <a:extLst>
              <a:ext uri="{FF2B5EF4-FFF2-40B4-BE49-F238E27FC236}">
                <a16:creationId xmlns:a16="http://schemas.microsoft.com/office/drawing/2014/main" id="{3497C7EB-C1E6-01E2-765F-B95879B8D74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7A558">
                <a:alpha val="100000"/>
              </a:srgbClr>
            </a:gs>
            <a:gs pos="50000">
              <a:srgbClr val="007067">
                <a:alpha val="100000"/>
              </a:srgbClr>
            </a:gs>
            <a:gs pos="100000">
              <a:srgbClr val="02353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 13" descr="Than | you | K">
            <a:extLst>
              <a:ext uri="{FF2B5EF4-FFF2-40B4-BE49-F238E27FC236}">
                <a16:creationId xmlns:a16="http://schemas.microsoft.com/office/drawing/2014/main" id="{B174CEAF-FBAE-D229-4924-42203DA4FB6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1197</Words>
  <Application>Microsoft Office PowerPoint</Application>
  <PresentationFormat>Custom</PresentationFormat>
  <Paragraphs>74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EsKrow+ Pitch (TH)</dc:title>
  <cp:lastModifiedBy>ภูริช เสียงสูง</cp:lastModifiedBy>
  <cp:revision>5</cp:revision>
  <dcterms:created xsi:type="dcterms:W3CDTF">2006-08-16T00:00:00Z</dcterms:created>
  <dcterms:modified xsi:type="dcterms:W3CDTF">2026-10-30T16:20:55Z</dcterms:modified>
  <dc:identifier>DAHZVPO88NY</dc:identifier>
</cp:coreProperties>
</file>